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6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th-TH"/>
    </a:defPPr>
    <a:lvl1pPr marL="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th-TH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
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th-TH"/>
  <c:chart>
    <c:title>
      <c:tx>
        <c:rich>
          <a:bodyPr/>
          <a:lstStyle/>
          <a:p>
            <a:pPr/>
            <a:r>
              <a:rPr lang="th-TH" sz="1350">
                <a:solidFill>
                  <a:srgbClr val="0B2545"/>
                </a:solidFill>
                <a:latin typeface="Sarabun"/>
                <a:ea typeface="Microsoft YaHei"/>
                <a:cs typeface="Sarabun"/>
              </a:rPr>
              <a:t>Unplanned downtime (ชม./เดือน)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wMode val="factor"/>
          <c:hMode val="factor"/>
          <c:x val="0.0697674418605"/>
          <c:y val="0.186046511628"/>
          <c:w val="0.883720930233"/>
          <c:h val="0.69767441860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Unplanned downtime (ชม./เดือน)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9AA3AF"/>
              </a:solidFill>
              <a:ln>
                <a:solidFill>
                  <a:srgbClr val="9AA3AF"/>
                </a:solidFill>
              </a:ln>
            </c:spPr>
          </c:dPt>
          <c:dPt>
            <c:idx val="1"/>
            <c:invertIfNegative val="0"/>
            <c:spPr>
              <a:solidFill>
                <a:srgbClr val="E07A1F"/>
              </a:solidFill>
              <a:ln>
                <a:solidFill>
                  <a:srgbClr val="E07A1F"/>
                </a:solidFill>
              </a:ln>
            </c:spPr>
          </c:dPt>
          <c:dLbls>
            <c:dLbl>
              <c:idx val="0"/>
              <c:txPr>
                <a:bodyPr/>
                <a:lstStyle/>
                <a:p>
                  <a:pPr>
                    <a:defRPr lang="th-TH" sz="1650" b="1">
                      <a:solidFill>
                        <a:srgbClr val="0B2545"/>
                      </a:solidFill>
                      <a:latin typeface="Sarabun"/>
                      <a:ea typeface="Microsoft YaHei"/>
                      <a:cs typeface="Sarabun"/>
                    </a:defRPr>
                  </a:pPr>
                  <a:endParaRPr lang="th-T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/>
                <a:lstStyle/>
                <a:p>
                  <a:pPr>
                    <a:defRPr lang="th-TH" sz="1650" b="1">
                      <a:solidFill>
                        <a:srgbClr val="E07A1F"/>
                      </a:solidFill>
                      <a:latin typeface="Sarabun"/>
                      <a:ea typeface="Microsoft YaHei"/>
                      <a:cs typeface="Sarabun"/>
                    </a:defRPr>
                  </a:pPr>
                  <a:endParaRPr lang="th-TH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lang="th-TH" sz="1650" b="1">
                    <a:solidFill>
                      <a:srgbClr val="0B2545"/>
                    </a:solidFill>
                    <a:latin typeface="Sarabun"/>
                    <a:ea typeface="Microsoft YaHei"/>
                    <a:cs typeface="Sarabun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ปัจจุบัน</c:v>
                </c:pt>
                <c:pt idx="1">
                  <c:v>เป้าหมาย 6 เดือน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29</c:v>
                </c:pt>
              </c:numCache>
            </c:numRef>
          </c:val>
        </c:ser>
        <c:gapWidth val="73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C9CED6"/>
            </a:solidFill>
            <a:round/>
          </a:ln>
        </c:spPr>
        <c:txPr>
          <a:bodyPr/>
          <a:lstStyle/>
          <a:p>
            <a:pPr>
              <a:defRPr lang="th-TH" sz="1350">
                <a:solidFill>
                  <a:srgbClr val="0B2545"/>
                </a:solidFill>
                <a:latin typeface="Sarabun"/>
                <a:ea typeface="Microsoft YaHei"/>
                <a:cs typeface="Sarabun"/>
              </a:defRPr>
            </a:pPr>
            <a:endParaRPr lang="th-TH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0"/>
          <c:min val="0"/>
        </c:scaling>
        <c:delete val="1"/>
        <c:axPos val="l"/>
        <c:majorTickMark val="none"/>
        <c:minorTickMark val="none"/>
        <c:tickLblPos val="nextTo"/>
        <c:spPr>
          <a:ln w="9525" cap="flat" cmpd="sng" algn="ctr">
            <a:solidFill>
              <a:srgbClr val="C9CED6"/>
            </a:solidFill>
            <a:round/>
          </a:ln>
        </c:spPr>
        <c:txPr>
          <a:bodyPr/>
          <a:lstStyle/>
          <a:p>
            <a:pPr>
              <a:defRPr lang="th-TH" sz="1350">
                <a:solidFill>
                  <a:srgbClr val="0B2545"/>
                </a:solidFill>
                <a:latin typeface="Sarabun"/>
                <a:ea typeface="Microsoft YaHei"/>
                <a:cs typeface="Sarabun"/>
              </a:defRPr>
            </a:pPr>
            <a:endParaRPr lang="th-TH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th-TH" sz="1350">
          <a:solidFill>
            <a:srgbClr val="0B2545"/>
          </a:solidFill>
          <a:latin typeface="Sarabun"/>
          <a:ea typeface="Microsoft YaHei"/>
          <a:cs typeface="Sarabun"/>
        </a:defRPr>
      </a:pPr>
      <a:endParaRPr lang="th-TH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th-TH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ข้อเสนอนี้ตั้งเป้าลดเวลาหยุดเครื่องที่ไม่ได้วางแผนลงสามสิบเปอร์เซ็นต์ภายในหกเดือน โดยเริ่มนำร่องที่เครื่องปั๊มหกเครื่องในสาย A ตัวเลขที่ต้องจำคือวันนี้เครื่องหยุดสี่สิบสองชั่วโมงต่อเดือน และเป้าหมายคือเหลือยี่สิบเก้าชั่วโมง เราจะเล่าตามกรอบ DXC สี่ขั้น ตั้งแต่ความเจ็บปวดหน้างานไปจนถึงแนวทางแก้ ข้อมูลทั้งหมดในชุดนี้เป็นข้อมูลสมมติเพื่อการทดสอบ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เริ่มจากสิ่งที่หน้างานเจอจริงทุกวัน เครื่องปั๊มสาย A หยุดกะทันหันเฉลี่ยสิบสี่ครั้งต่อเดือนโดยไม่มีสัญญาณเตือน และหัวหน้ากะต้องโทรตามช่างเองทุกครั้ง ช่างรู้ว่าเครื่องเสียก็ต่อเมื่อมีคนเดินมาแจ้ง จึงเสียเวลารอเฉลี่ยยี่สิบห้านาทีก่อนเริ่มซ่อม ซีลไฮดรอลิกขาดสต็อกบ่อยและต้องรอของสามถึงห้าวัน ส่วนผู้จัดการเห็นตัวเลข OEE จาก Excel ที่กรอกมือทุกสิ้นเดือน ทุกปัญหาจบที่จุดเดียวกันคือส่งชิ้นงานให้ลูกค้า OEM ไม่ทันรอบ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เมื่อไล่ปัญหาหน้างานทั้งสี่ข้อลงไปที่ข้อมูล จะเห็นว่าแต่ละข้อขาดข้อมูลคนละชนิด ตั้งแต่ข้อมูลการสั่นสะเทือนแบบเรียลไทม์ ระบบแจ้งเตือนที่ผูกกับ CMMS ประวัติการใช้อะไหล่ ไปจนถึงแหล่งข้อมูล OEE ที่เชื่อถือได้ ทีมจึงตีความว่ารากของปัญหาคือข้อมูลเครื่องจักรไม่ถูกเก็บและส่งต่ออัตโนมัติ การเพิ่มช่างหรือเพิ่มสต็อกจึงไม่ได้แก้ต้นเหตุ ข้อสรุปนี้เป็นการตีความของทีม ไม่ใช่ข้อความจากเอกสารโจทย์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ทุกครั้งที่เครื่องหยุด ต้องรอเฉลี่ยยี่สิบห้านาทีกว่าช่างจะเริ่มซ่อม เมื่อคูณกับสิบสี่ครั้งต่อเดือน จะได้ราวสามร้อยห้าสิบนาที หรือเกือบหกชั่วโมงต่อเดือนที่เครื่องหยุดโดยยังไม่มีใครลงมือซ่อม ตัวเลขนี้คำนวณจากเอกสารโจทย์ ส่วนมูลค่าความเสียหายเป็นเงินบาทยังทำไม่ได้ เพราะยังไม่มีมูลค่าความเสียหายต่อชั่วโมงจากฝ่ายผลิตของลูกค้า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ทิศทางที่เสนอคือเปลี่ยนจากการซ่อมเมื่อเสีย ไปเป็นการซ่อมตามสภาพเครื่อง วันนี้เรารู้ว่าเครื่องเสียหลังจากมันหยุดแล้ว ช่างรอคนแจ้ง อะไหล่สั่งหลังของหมด และ OEE สรุปทุกสิ้นเดือน เมื่อเปลี่ยนแล้ว เซนเซอร์จะบอกความผิดปกติก่อนเครื่องหยุด ใบสั่งซ่อมเปิดอัตโนมัติ ระบบเตือนสั่งอะไหล่ตามอัตราใช้จริง และเห็น OEE แบบเรียลไทม์ เราเริ่มที่สาย A หกเครื่องก่อน แล้วค่อยขยายทั้งโรงงานหลังวัดผล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เราวัดความสำเร็จด้วยตัวชี้วัดสี่ตัว เวลาหยุดเครื่องที่ไม่ได้วางแผนจากสี่สิบสองเหลือยี่สิบเก้าชั่วโมงต่อเดือน ซึ่งลดลงราวสามสิบเอ็ดเปอร์เซ็นต์และสอดคล้องกับเป้าสามสิบเปอร์เซ็นต์ เวลารอช่างจากยี่สิบห้าเหลือแปดนาที OEE สาย A จากหกสิบเอ็ดเป็นเจ็ดสิบเปอร์เซ็นต์ และอะไหล่สำคัญขาดสต็อกจากห้าครั้งเหลือหนึ่งครั้งต่อเดือน ทั้งสี่ตัวจะวัดจากแดชบอร์ดเดียวกัน แต่ตัวเลขฐานต้องยืนยันหน้างานก่อนเริ่มโครงการ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ระบบมีสี่ส่วนที่ทำงานต่อกัน ต้นทางคือเซนเซอร์บนเครื่องปั๊มหกเครื่องที่วัดการสั่นสะเทือน อุณหภูมิ และแรงดันไฮดรอลิก ข้อมูลนี้ส่งต่อไปยังแดชบอร์ด OEE เรียลไทม์ที่แทน Excel ไปยัง CMMS เพื่อเปิดใบสั่งซ่อมอัตโนมัติเมื่อค่าผิดปกติ และไปยังระบบเตือนอะไหล่ที่คำนวณจากอัตราการใช้จริง แต่ละส่วนผูกกับปัญหาหน้างานข้อหนึ่งถึงสี่ในหน้าที่สองโดยตรง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แผนงานแบ่งเป็นสามระยะในหกเดือน เดือนหนึ่งถึงสองติดตั้งเซนเซอร์และเก็บค่าฐานของตัวชี้วัด เดือนสามถึงสี่เปิดใช้การแจ้งเตือนและใบสั่งซ่อมผ่าน CMMS เดือนห้าถึงหกปรับเกณฑ์แจ้งเตือนจากข้อมูลจริงและวัดผลเทียบเป้า เมื่อจบเดือนที่หก ถ้าผลถึงเป้าทั้งสี่ตัว เราจะเสนอขยายไปทั้งโรงงาน ส่วนเกณฑ์ว่าแบบไหนนับว่าถึงเป้าและงบระยะขยายยังต้องตกลงร่วมกัน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th-TH" dirty="0"/>
              <a:t>สิ่งที่ขอวันนี้คือนัดสำรวจหน้างานสาย A เพื่อยืนยันตัวเลขฐานทั้งสี่ตัว ขอเปิดข้อมูลระบบ CMMS ที่ใช้อยู่เพื่อออกแบบการเชื่อมต่อ และกำหนดผู้รับผิดชอบฝั่งลูกค้าพร้อมเกณฑ์วัดผล ข้อมูลที่ยังไม่มีในเอกสารโจทย์ได้แก่ งบประมาณ ROI รายชื่อทีมงาน มูลค่าความเสียหายต่อชั่วโมง และเกณฑ์ถึงเป้า ซึ่งต้องได้ก่อนทำข้อเสนอฉบับจริง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xc_thai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th-TH" smtClean="0"/>
              <a:t>1/27/13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th-TH" smtClean="0"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xc_thai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th-TH" smtClean="0"/>
              <a:t>1/27/13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th-TH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th-TH" smtClean="0"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th-TH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th-TH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th-TH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th-TH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th-TH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th-TH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-bar"/>
          <p:cNvSpPr/>
          <p:nvPr/>
        </p:nvSpPr>
        <p:spPr>
          <a:xfrm>
            <a:off x="571500" y="1257300"/>
            <a:ext cx="57150" cy="1905000"/>
          </a:xfrm>
          <a:prstGeom prst="rect">
            <a:avLst/>
          </a:prstGeom>
          <a:solidFill>
            <a:srgbClr val="E07A1F"/>
          </a:solidFill>
          <a:ln>
            <a:noFill/>
          </a:ln>
        </p:spPr>
      </p:sp>
      <p:grpSp>
        <p:nvGrpSpPr>
          <p:cNvPr id="4" name="cover-kicker"/>
          <p:cNvGrpSpPr/>
          <p:nvPr/>
        </p:nvGrpSpPr>
        <p:grpSpPr>
          <a:xfrm>
            <a:off x="829818" y="977900"/>
            <a:ext cx="6213996" cy="322707"/>
            <a:chOff x="829818" y="977900"/>
            <a:chExt cx="6213996" cy="322707"/>
          </a:xfrm>
        </p:grpSpPr>
        <p:sp>
          <p:nvSpPr>
            <p:cNvPr id="3" name="TextBox 3"/>
            <p:cNvSpPr txBox="1"/>
            <p:nvPr/>
          </p:nvSpPr>
          <p:spPr>
            <a:xfrm>
              <a:off x="829818" y="977900"/>
              <a:ext cx="621399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ข้อเสนอโครงการนำร่อง · บริษัท สยามออโต้พาร์ท จำกัด (นามสมมติ)</a:t>
              </a:r>
            </a:p>
          </p:txBody>
        </p:sp>
      </p:grpSp>
      <p:grpSp>
        <p:nvGrpSpPr>
          <p:cNvPr id="6" name="cover-title"/>
          <p:cNvGrpSpPr/>
          <p:nvPr/>
        </p:nvGrpSpPr>
        <p:grpSpPr>
          <a:xfrm>
            <a:off x="819150" y="1397000"/>
            <a:ext cx="8307134" cy="1428750"/>
            <a:chOff x="819150" y="1397000"/>
            <a:chExt cx="8307134" cy="1428750"/>
          </a:xfrm>
        </p:grpSpPr>
        <p:sp>
          <p:nvSpPr>
            <p:cNvPr id="5" name="TextBox 5"/>
            <p:cNvSpPr txBox="1"/>
            <p:nvPr/>
          </p:nvSpPr>
          <p:spPr>
            <a:xfrm>
              <a:off x="819150" y="1397000"/>
              <a:ext cx="8307134" cy="1428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250"/>
                </a:lnSpc>
              </a:pPr>
              <a:r>
                <a:rPr lang="th-TH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ลดเวลาหยุดเครื่องที่ไม่ได้วางแผน </a:t>
              </a:r>
              <a:r>
                <a:rPr lang="th-TH" sz="39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  <a:t>30%</a:t>
              </a:r>
              <a:br>
                <a:rPr lang="th-TH" sz="39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</a:br>
              <a:r>
                <a:rPr lang="th-TH" sz="3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ภายใน 6 เดือน</a:t>
              </a:r>
            </a:p>
          </p:txBody>
        </p:sp>
      </p:grpSp>
      <p:grpSp>
        <p:nvGrpSpPr>
          <p:cNvPr id="8" name="cover-subtitle"/>
          <p:cNvGrpSpPr/>
          <p:nvPr/>
        </p:nvGrpSpPr>
        <p:grpSpPr>
          <a:xfrm>
            <a:off x="829056" y="2927350"/>
            <a:ext cx="8928202" cy="352044"/>
            <a:chOff x="829056" y="2927350"/>
            <a:chExt cx="8928202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829056" y="2927350"/>
              <a:ext cx="89282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นำร่องเครื่องปั๊ม 6 เครื่องในสาย A — เปลี่ยนจากซ่อมเมื่อเสีย เป็นซ่อมตามสภาพเครื่อง</a:t>
              </a:r>
            </a:p>
          </p:txBody>
        </p:sp>
      </p:grpSp>
      <p:grpSp>
        <p:nvGrpSpPr>
          <p:cNvPr id="14" name="cover-hook"/>
          <p:cNvGrpSpPr/>
          <p:nvPr/>
        </p:nvGrpSpPr>
        <p:grpSpPr>
          <a:xfrm>
            <a:off x="838200" y="3905250"/>
            <a:ext cx="10170795" cy="1619250"/>
            <a:chOff x="838200" y="3905250"/>
            <a:chExt cx="10170795" cy="1619250"/>
          </a:xfrm>
        </p:grpSpPr>
        <p:sp>
          <p:nvSpPr>
            <p:cNvPr id="9" name="Rectangle 9"/>
            <p:cNvSpPr/>
            <p:nvPr/>
          </p:nvSpPr>
          <p:spPr>
            <a:xfrm>
              <a:off x="838200" y="3905250"/>
              <a:ext cx="5334000" cy="1619250"/>
            </a:xfrm>
            <a:prstGeom prst="roundRect">
              <a:avLst>
                <a:gd name="adj" fmla="val 7059"/>
              </a:avLst>
            </a:prstGeom>
            <a:solidFill>
              <a:srgbClr val="13315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3950" y="3981450"/>
              <a:ext cx="344748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7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42 </a:t>
              </a:r>
              <a:r>
                <a:rPr lang="th-TH" sz="7200" b="1" dirty="0">
                  <a:solidFill>
                    <a:srgbClr val="F6A55B"/>
                  </a:solidFill>
                  <a:latin typeface="+mn-lt"/>
                  <a:ea typeface="+mn-ea"/>
                  <a:cs typeface="+mn-cs"/>
                </a:rPr>
                <a:t>→ 29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5380" y="5118100"/>
              <a:ext cx="3973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ชั่วโมงหยุดเครื่องต่อเดือน (ปัจจุบัน → เป้าหมาย)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563868" y="4273550"/>
              <a:ext cx="21642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ไล่ตามกรอบ DXC 4 ขั้น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64630" y="4629150"/>
              <a:ext cx="4444365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Discover Operation Pains → Mapping to Data Pain</a:t>
              </a:r>
              <a:b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→ Strategic Design → Solution Finding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832104" y="6343650"/>
            <a:ext cx="49638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th-TH" sz="1200" dirty="0">
                <a:solidFill>
                  <a:srgbClr val="9AA8BC"/>
                </a:solidFill>
                <a:latin typeface="+mn-lt"/>
                <a:ea typeface="+mn-ea"/>
                <a:cs typeface="+mn-cs"/>
              </a:rPr>
              <a:t>CSI Groups · ตุลาคม 2569 · เอกสารทดสอบ ข้อมูลทั้งหมดเป็นข้อมูลสมมติ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53816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 · Discover Operation Pains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69763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เครื่องปั๊มสาย A หยุดกะทันหัน 14 ครั้งต่อเดือน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pain-1"/>
          <p:cNvGrpSpPr/>
          <p:nvPr/>
        </p:nvGrpSpPr>
        <p:grpSpPr>
          <a:xfrm>
            <a:off x="609600" y="1409700"/>
            <a:ext cx="4600731" cy="1005332"/>
            <a:chOff x="609600" y="1409700"/>
            <a:chExt cx="4600731" cy="1005332"/>
          </a:xfrm>
        </p:grpSpPr>
        <p:sp>
          <p:nvSpPr>
            <p:cNvPr id="6" name="Ellipse 6"/>
            <p:cNvSpPr/>
            <p:nvPr/>
          </p:nvSpPr>
          <p:spPr>
            <a:xfrm>
              <a:off x="609600" y="140970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34173" y="1489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3856" y="1460500"/>
              <a:ext cx="4076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เครื่องหยุดโดยไม่มีสัญญาณเตือนล่วงหน้า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4618" y="1778000"/>
              <a:ext cx="3610547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เครื่องปั๊มสาย A หยุดเฉลี่ย 14 ครั้งต่อเดือน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หัวหน้ากะต้องโทรตามช่างซ่อมเองทุกครั้ง</a:t>
              </a:r>
            </a:p>
          </p:txBody>
        </p:sp>
      </p:grpSp>
      <p:grpSp>
        <p:nvGrpSpPr>
          <p:cNvPr id="15" name="pain-2"/>
          <p:cNvGrpSpPr/>
          <p:nvPr/>
        </p:nvGrpSpPr>
        <p:grpSpPr>
          <a:xfrm>
            <a:off x="609600" y="2571750"/>
            <a:ext cx="5036630" cy="1005332"/>
            <a:chOff x="609600" y="2571750"/>
            <a:chExt cx="5036630" cy="1005332"/>
          </a:xfrm>
        </p:grpSpPr>
        <p:sp>
          <p:nvSpPr>
            <p:cNvPr id="11" name="Ellipse 11"/>
            <p:cNvSpPr/>
            <p:nvPr/>
          </p:nvSpPr>
          <p:spPr>
            <a:xfrm>
              <a:off x="609600" y="25717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4173" y="2651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2622550"/>
              <a:ext cx="40255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ช่างรู้ว่าเครื่องเสียช้า รอเฉลี่ย 25 นาที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4618" y="2940050"/>
              <a:ext cx="4511612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ช่างซ่อมบำรุงรู้ก็ต่อเมื่อพนักงานหน้าเครื่องเดินมาแจ้ง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จึงเริ่มซ่อมได้ช้ากว่าที่ควร</a:t>
              </a:r>
            </a:p>
          </p:txBody>
        </p:sp>
      </p:grpSp>
      <p:grpSp>
        <p:nvGrpSpPr>
          <p:cNvPr id="20" name="pain-3"/>
          <p:cNvGrpSpPr/>
          <p:nvPr/>
        </p:nvGrpSpPr>
        <p:grpSpPr>
          <a:xfrm>
            <a:off x="609600" y="3733800"/>
            <a:ext cx="4829720" cy="1005332"/>
            <a:chOff x="609600" y="3733800"/>
            <a:chExt cx="4829720" cy="1005332"/>
          </a:xfrm>
        </p:grpSpPr>
        <p:sp>
          <p:nvSpPr>
            <p:cNvPr id="16" name="Ellipse 16"/>
            <p:cNvSpPr/>
            <p:nvPr/>
          </p:nvSpPr>
          <p:spPr>
            <a:xfrm>
              <a:off x="609600" y="373380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4173" y="38131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3856" y="3784600"/>
              <a:ext cx="43054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ซีลไฮดรอลิกขาดสต็อก ต้องรอของ 3–5 วัน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4618" y="4102100"/>
              <a:ext cx="2992374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อะไหล่สำคัญหมดบ่อย ต้องรอสั่งซื้อ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ทำให้ส่งชิ้นงานให้ลูกค้า OEM ไม่ทัน</a:t>
              </a:r>
            </a:p>
          </p:txBody>
        </p:sp>
      </p:grpSp>
      <p:grpSp>
        <p:nvGrpSpPr>
          <p:cNvPr id="25" name="pain-4"/>
          <p:cNvGrpSpPr/>
          <p:nvPr/>
        </p:nvGrpSpPr>
        <p:grpSpPr>
          <a:xfrm>
            <a:off x="609600" y="4895850"/>
            <a:ext cx="5341224" cy="1005332"/>
            <a:chOff x="609600" y="4895850"/>
            <a:chExt cx="5341224" cy="1005332"/>
          </a:xfrm>
        </p:grpSpPr>
        <p:sp>
          <p:nvSpPr>
            <p:cNvPr id="21" name="Ellipse 21"/>
            <p:cNvSpPr/>
            <p:nvPr/>
          </p:nvSpPr>
          <p:spPr>
            <a:xfrm>
              <a:off x="609600" y="48958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34173" y="4975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3856" y="4946650"/>
              <a:ext cx="48169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ผู้จัดการเห็นตัวเลข OEE ย้อนหลังทุกสิ้นเดือน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4618" y="5264150"/>
              <a:ext cx="3317177" cy="6370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75"/>
                </a:lnSpc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ตัวเลขมาจาก Excel ที่พนักงานกรอกมือ</a:t>
              </a:r>
              <a:b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จึงตัดสินใจได้ช้าไปหนึ่งรอบเดือน</a:t>
              </a:r>
            </a:p>
          </p:txBody>
        </p:sp>
      </p:grpSp>
      <p:grpSp>
        <p:nvGrpSpPr>
          <p:cNvPr id="31" name="impact-panel"/>
          <p:cNvGrpSpPr/>
          <p:nvPr/>
        </p:nvGrpSpPr>
        <p:grpSpPr>
          <a:xfrm>
            <a:off x="8001000" y="1333500"/>
            <a:ext cx="3619500" cy="4591050"/>
            <a:chOff x="8001000" y="1333500"/>
            <a:chExt cx="3619500" cy="4591050"/>
          </a:xfrm>
        </p:grpSpPr>
        <p:sp>
          <p:nvSpPr>
            <p:cNvPr id="26" name="Rectangle 26"/>
            <p:cNvSpPr/>
            <p:nvPr/>
          </p:nvSpPr>
          <p:spPr>
            <a:xfrm>
              <a:off x="8001000" y="1333500"/>
              <a:ext cx="3619500" cy="459105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01000" y="1333500"/>
              <a:ext cx="57150" cy="459105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299323" y="1600200"/>
              <a:ext cx="130659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ผลกระทบต่อธุรกิจ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95894" y="1930400"/>
              <a:ext cx="2451116" cy="1105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ทุกปัญหาจบที่จุดเดียวกัน</a:t>
              </a:r>
              <a:b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ชิ้นงานส่งลูกค้า OEM</a:t>
              </a:r>
              <a:b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ไม่ทันรอบ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98180" y="3460750"/>
              <a:ext cx="2282190" cy="158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ตัวเลขฐานจากเอกสารโจทย์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หยุดกะทันหัน 14 ครั้ง/เดือน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รอช่าง 25 นาที/ครั้ง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อะไหล่ขาด 5 ครั้ง/เดือน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OEE สาย A 61%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14183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 · Mapping to Data Pain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90730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ปัญหาทั้ง 4 ข้อมีรากเดียวกัน: ข้อมูลเครื่องไม่ไหลถึงคนตัดสินใจ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aphicFrame>
        <p:nvGraphicFramePr>
          <p:cNvPr id="6" name="data-pain-table"/>
          <p:cNvGraphicFramePr>
            <a:graphicFrameLocks noGrp="1"/>
          </p:cNvGraphicFramePr>
          <p:nvPr/>
        </p:nvGraphicFramePr>
        <p:xfrm>
          <a:off x="571500" y="1428750"/>
          <a:ext cx="11049000" cy="29146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57500"/>
                <a:gridCol w="4953000"/>
                <a:gridCol w="323850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Sarabun"/>
                          <a:ea typeface="Microsoft YaHei"/>
                          <a:cs typeface="Sarabun"/>
                        </a:rPr>
                        <a:t>ปัญหาหน้างาน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Sarabun"/>
                          <a:ea typeface="Microsoft YaHei"/>
                          <a:cs typeface="Sarabun"/>
                        </a:rPr>
                        <a:t>ข้อมูลที่ขาด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Sarabun"/>
                          <a:ea typeface="Microsoft YaHei"/>
                          <a:cs typeface="Sarabun"/>
                        </a:rPr>
                        <a:t>ผลกระทบ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เครื่องหยุดไม่ทันรู้ตัว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ไม่มีข้อมูลการสั่นสะเทือนและอุณหภูมิแบบเรียลไทม์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ซ่อมแบบตั้งรับ (reactive)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รอช่างนาน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ไม่มีระบบแจ้งเตือนอัตโนมัติ (andon) ผูกกับ CMMS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เสียเวลารอ 25 นาที/ครั้ง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อะไหล่ขาด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ประวัติการใช้อะไหล่ไม่ผูกกับประวัติเครื่อง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สั่งซื้อไม่ทันรอบ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OEE ล่าช้า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ข้อมูลกรอกมือ ไม่มี single source of truth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ตัดสินใจย้อนหลัง 30 วัน</a:t>
                      </a:r>
                    </a:p>
                  </a:txBody>
                  <a:tcPr anchor="ctr" marL="190500" marR="1143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implication"/>
          <p:cNvGrpSpPr/>
          <p:nvPr/>
        </p:nvGrpSpPr>
        <p:grpSpPr>
          <a:xfrm>
            <a:off x="571500" y="4667250"/>
            <a:ext cx="11049000" cy="1257300"/>
            <a:chOff x="571500" y="4667250"/>
            <a:chExt cx="11049000" cy="1257300"/>
          </a:xfrm>
        </p:grpSpPr>
        <p:sp>
          <p:nvSpPr>
            <p:cNvPr id="7" name="Rectangle 7"/>
            <p:cNvSpPr/>
            <p:nvPr/>
          </p:nvSpPr>
          <p:spPr>
            <a:xfrm>
              <a:off x="571500" y="4667250"/>
              <a:ext cx="11049000" cy="125730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4667250"/>
              <a:ext cx="57150" cy="125730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7156" y="4851400"/>
              <a:ext cx="7931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ข้อมูลเครื่องจักรไม่ถูกเก็บและส่งต่ออัตโนมัติ จึงต้องแก้ที่การไหลของข้อมูลก่อน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5270500"/>
              <a:ext cx="59721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การเพิ่มจำนวนช่างหรือเพิ่มสต็อกอะไหล่ ไม่ได้แก้ต้นเหตุทั้ง 4 ข้อในตาราง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5600700"/>
              <a:ext cx="41398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การตีความของทีมจากตารางนี้ ไม่ใช่ข้อมูลจากเอกสารโจทย์</a:t>
              </a:r>
            </a:p>
          </p:txBody>
        </p:sp>
      </p:grpSp>
      <p:grpSp>
        <p:nvGrpSpPr>
          <p:cNvPr id="15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3" name="TextBox 13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32048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 · ต้นทุนของการรอ (Cost of Inaction)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73789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ทุกการหยุดเครื่องเสียเวลารอ 25 นาทีก่อนเริ่มซ่อม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8" name="hero-wait"/>
          <p:cNvGrpSpPr/>
          <p:nvPr/>
        </p:nvGrpSpPr>
        <p:grpSpPr>
          <a:xfrm>
            <a:off x="552450" y="1968500"/>
            <a:ext cx="4125601" cy="2590800"/>
            <a:chOff x="552450" y="1968500"/>
            <a:chExt cx="4125601" cy="259080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968500"/>
              <a:ext cx="3212137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35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25</a:t>
              </a:r>
              <a:r>
                <a:rPr lang="th-TH" sz="39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 xml:space="preserve"> นาที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3118" y="3987800"/>
              <a:ext cx="41149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เวลารอเฉลี่ยตั้งแต่เครื่องหยุด จนช่างเริ่มซ่อม</a:t>
              </a:r>
            </a:p>
          </p:txBody>
        </p:sp>
      </p:grpSp>
      <p:grpSp>
        <p:nvGrpSpPr>
          <p:cNvPr id="14" name="monthly-total"/>
          <p:cNvGrpSpPr/>
          <p:nvPr/>
        </p:nvGrpSpPr>
        <p:grpSpPr>
          <a:xfrm>
            <a:off x="6477000" y="1905000"/>
            <a:ext cx="4571619" cy="2476500"/>
            <a:chOff x="6477000" y="1905000"/>
            <a:chExt cx="4571619" cy="2476500"/>
          </a:xfrm>
        </p:grpSpPr>
        <p:sp>
          <p:nvSpPr>
            <p:cNvPr id="9" name="Line 9"/>
            <p:cNvSpPr/>
            <p:nvPr/>
          </p:nvSpPr>
          <p:spPr>
            <a:xfrm>
              <a:off x="6477000" y="1905000"/>
              <a:ext cx="9525" cy="2476500"/>
            </a:xfrm>
            <a:custGeom>
              <a:avLst/>
              <a:gdLst/>
              <a:ahLst/>
              <a:cxnLst/>
              <a:rect l="l" t="t" r="r" b="b"/>
              <a:pathLst>
                <a:path w="9525" h="2476500">
                  <a:moveTo>
                    <a:pt x="0" y="0"/>
                  </a:moveTo>
                  <a:lnTo>
                    <a:pt x="0" y="247650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11518" y="2044700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รวมแล้วต่อเดือน เครื่องหยุดโดยยังไม่มีใครซ่อม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0850" y="2463800"/>
              <a:ext cx="305735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4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≈ 350 นาที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811518" y="3340100"/>
              <a:ext cx="42259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14 ครั้ง × 25 นาที = 350 นาที (≈ 5.8 ชั่วโมง)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13423" y="3771900"/>
              <a:ext cx="257181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ค่าคำนวณจากตัวเลขในเอกสารโจทย์</a:t>
              </a:r>
            </a:p>
          </p:txBody>
        </p:sp>
      </p:grpSp>
      <p:grpSp>
        <p:nvGrpSpPr>
          <p:cNvPr id="18" name="tbd-cost"/>
          <p:cNvGrpSpPr/>
          <p:nvPr/>
        </p:nvGrpSpPr>
        <p:grpSpPr>
          <a:xfrm>
            <a:off x="571500" y="5029200"/>
            <a:ext cx="11049000" cy="895350"/>
            <a:chOff x="571500" y="5029200"/>
            <a:chExt cx="11049000" cy="895350"/>
          </a:xfrm>
        </p:grpSpPr>
        <p:sp>
          <p:nvSpPr>
            <p:cNvPr id="15" name="Rectangle 15"/>
            <p:cNvSpPr/>
            <p:nvPr/>
          </p:nvSpPr>
          <p:spPr>
            <a:xfrm>
              <a:off x="571500" y="5029200"/>
              <a:ext cx="11049000" cy="895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E07A1F"/>
              </a:solidFill>
              <a:custDash>
                <a:ds d="300000" sp="200000"/>
              </a:custDash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7918" y="5207000"/>
              <a:ext cx="50439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มูลค่าความเสียหายต่อชั่วโมงที่เครื่องหยุด = [TBD]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8680" y="5556250"/>
              <a:ext cx="70726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ต้องได้ตัวเลขจากฝ่ายผลิตของลูกค้าก่อน จึงจะคำนวณต้นทุนของการไม่ทำเป็นเงินบาทได้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9" name="TextBox 19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17903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 · Strategic Design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100041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เปลี่ยนจากซ่อมเมื่อเสีย เป็นซ่อมตามสภาพเครื่อง โดยเริ่มที่สาย A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today"/>
          <p:cNvGrpSpPr/>
          <p:nvPr/>
        </p:nvGrpSpPr>
        <p:grpSpPr>
          <a:xfrm>
            <a:off x="571500" y="1428750"/>
            <a:ext cx="4800600" cy="3067050"/>
            <a:chOff x="571500" y="1428750"/>
            <a:chExt cx="4800600" cy="30670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4800600" cy="3067050"/>
            </a:xfrm>
            <a:prstGeom prst="roundRect">
              <a:avLst>
                <a:gd name="adj" fmla="val 3727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9823" y="1695450"/>
              <a:ext cx="3114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วันนี้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6394" y="1987550"/>
              <a:ext cx="2913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ซ่อมเมื่อเสีย (reactive)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918" y="2463800"/>
              <a:ext cx="3484816" cy="1580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รู้ว่าเครื่องเสียเมื่อมันหยุดแล้ว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ช่างรอคนเดินมาแจ้ง ไม่มีข้อมูลล่วงหน้า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สั่งอะไหล่หลังของหมด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สรุป OEE ทุกสิ้นเดือนจาก Excel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5562600" y="2552700"/>
            <a:ext cx="1066800" cy="800100"/>
          </a:xfrm>
          <a:prstGeom prst="rightArrow">
            <a:avLst/>
          </a:prstGeom>
          <a:solidFill>
            <a:srgbClr val="E07A1F"/>
          </a:solidFill>
          <a:ln>
            <a:noFill/>
          </a:ln>
        </p:spPr>
      </p:sp>
      <p:grpSp>
        <p:nvGrpSpPr>
          <p:cNvPr id="16" name="target"/>
          <p:cNvGrpSpPr/>
          <p:nvPr/>
        </p:nvGrpSpPr>
        <p:grpSpPr>
          <a:xfrm>
            <a:off x="6819900" y="1428750"/>
            <a:ext cx="4800600" cy="3067050"/>
            <a:chOff x="6819900" y="1428750"/>
            <a:chExt cx="4800600" cy="3067050"/>
          </a:xfrm>
        </p:grpSpPr>
        <p:sp>
          <p:nvSpPr>
            <p:cNvPr id="12" name="Rectangle 12"/>
            <p:cNvSpPr/>
            <p:nvPr/>
          </p:nvSpPr>
          <p:spPr>
            <a:xfrm>
              <a:off x="6819900" y="1428750"/>
              <a:ext cx="4800600" cy="3067050"/>
            </a:xfrm>
            <a:prstGeom prst="roundRect">
              <a:avLst>
                <a:gd name="adj" fmla="val 3727"/>
              </a:avLst>
            </a:prstGeom>
            <a:solidFill>
              <a:srgbClr val="FFFFFF"/>
            </a:solidFill>
            <a:ln w="19050">
              <a:solidFill>
                <a:srgbClr val="0B254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18223" y="1695450"/>
              <a:ext cx="70953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เป้าหมาย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4794" y="1987550"/>
              <a:ext cx="22937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ซ่อมตามสภาพเครื่อง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16318" y="2463800"/>
              <a:ext cx="3652457" cy="1580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เซนเซอร์บอกความผิดปกติก่อนเครื่องหยุด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ใบสั่งซ่อมเปิดอัตโนมัติ ช่างรู้ทันที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เตือนสั่งอะไหล่ตามอัตราการใช้จริง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เห็น OEE แบบเรียลไทม์</a:t>
              </a:r>
            </a:p>
          </p:txBody>
        </p:sp>
      </p:grpSp>
      <p:grpSp>
        <p:nvGrpSpPr>
          <p:cNvPr id="22" name="pilot-scope"/>
          <p:cNvGrpSpPr/>
          <p:nvPr/>
        </p:nvGrpSpPr>
        <p:grpSpPr>
          <a:xfrm>
            <a:off x="571500" y="4800600"/>
            <a:ext cx="11049000" cy="1123950"/>
            <a:chOff x="571500" y="4800600"/>
            <a:chExt cx="11049000" cy="1123950"/>
          </a:xfrm>
        </p:grpSpPr>
        <p:sp>
          <p:nvSpPr>
            <p:cNvPr id="17" name="Rectangle 17"/>
            <p:cNvSpPr/>
            <p:nvPr/>
          </p:nvSpPr>
          <p:spPr>
            <a:xfrm>
              <a:off x="571500" y="4800600"/>
              <a:ext cx="11049000" cy="1123950"/>
            </a:xfrm>
            <a:prstGeom prst="rect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9823" y="5048250"/>
              <a:ext cx="11075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ขอบเขตนำร่อง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67918" y="5416550"/>
              <a:ext cx="56846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สาย A · เครื่องปั๊ม 6 เครื่อง → ขยายทั้งโรงงานหลังวัดผล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46773" y="5048250"/>
              <a:ext cx="100806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เป้าหมายหลัก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44868" y="5416550"/>
              <a:ext cx="41799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ลด unplanned downtime 30% ใน 6 เดือน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250127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 · Strategic Design — ตัวชี้วัด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59191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ตั้งเป้า 4 ตัวชี้วัด วัดผลได้ภายใน 6 เดือน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aphicFrame>
        <p:nvGraphicFramePr>
          <p:cNvPr id="6" name="kpi-table"/>
          <p:cNvGraphicFramePr>
            <a:graphicFrameLocks noGrp="1"/>
          </p:cNvGraphicFramePr>
          <p:nvPr/>
        </p:nvGraphicFramePr>
        <p:xfrm>
          <a:off x="571500" y="1524000"/>
          <a:ext cx="6572250" cy="291465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428999"/>
                <a:gridCol w="1238251"/>
                <a:gridCol w="1905000"/>
              </a:tblGrid>
              <a:tr h="47625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FFFFFF"/>
                          </a:solidFill>
                          <a:latin typeface="Sarabun"/>
                          <a:ea typeface="Microsoft YaHei"/>
                          <a:cs typeface="Sarabun"/>
                        </a:rPr>
                        <a:t>ตัวชี้วัด (KPI)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FFFFFF"/>
                          </a:solidFill>
                          <a:latin typeface="Sarabun"/>
                          <a:ea typeface="Microsoft YaHei"/>
                          <a:cs typeface="Sarabun"/>
                        </a:rPr>
                        <a:t>ปัจจุบัน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FFFFFF"/>
                          </a:solidFill>
                          <a:latin typeface="Sarabun"/>
                          <a:ea typeface="Microsoft YaHei"/>
                          <a:cs typeface="Sarabun"/>
                        </a:rPr>
                        <a:t>เป้าหมาย 6 เดือน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Unplanned downtime (ชม./เดือน)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42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29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เวลารอช่าง (นาที/ครั้ง)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25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8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OEE สาย A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61%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70%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อะไหล่สำคัญขาดสต็อก (ครั้ง/เดือน)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0">
                          <a:solidFill>
                            <a:srgbClr val="2B2F36"/>
                          </a:solidFill>
                          <a:latin typeface="Sarabun"/>
                          <a:ea typeface="Microsoft YaHei"/>
                          <a:cs typeface="Sarabun"/>
                        </a:rPr>
                        <a:t>5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th-TH" sz="1500" b="1">
                          <a:solidFill>
                            <a:srgbClr val="0B2545"/>
                          </a:solidFill>
                          <a:latin typeface="Sarabun"/>
                          <a:ea typeface="Microsoft YaHei"/>
                          <a:cs typeface="Sarabun"/>
                        </a:rPr>
                        <a:t>1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C9CED6"/>
                      </a:solidFill>
                      <a:prstDash val="solid"/>
                    </a:lnB>
                    <a:solidFill>
                      <a:srgbClr val="FBE9D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downtime-chart"/>
          <p:cNvGraphicFramePr>
            <a:graphicFrameLocks noGrp="1"/>
          </p:cNvGraphicFramePr>
          <p:nvPr/>
        </p:nvGraphicFramePr>
        <p:xfrm>
          <a:off x="7524750" y="1524000"/>
          <a:ext cx="4095750" cy="409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2" name="kpi-implication"/>
          <p:cNvGrpSpPr/>
          <p:nvPr/>
        </p:nvGrpSpPr>
        <p:grpSpPr>
          <a:xfrm>
            <a:off x="571500" y="4762500"/>
            <a:ext cx="6572250" cy="1162050"/>
            <a:chOff x="571500" y="4762500"/>
            <a:chExt cx="6572250" cy="1162050"/>
          </a:xfrm>
        </p:grpSpPr>
        <p:sp>
          <p:nvSpPr>
            <p:cNvPr id="8" name="Rectangle 8"/>
            <p:cNvSpPr/>
            <p:nvPr/>
          </p:nvSpPr>
          <p:spPr>
            <a:xfrm>
              <a:off x="571500" y="4762500"/>
              <a:ext cx="6572250" cy="1162050"/>
            </a:xfrm>
            <a:prstGeom prst="rect">
              <a:avLst/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4762500"/>
              <a:ext cx="57150" cy="1162050"/>
            </a:xfrm>
            <a:prstGeom prst="rect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918" y="4959350"/>
              <a:ext cx="4521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วัดผลทั้ง 4 ตัวจากแดชบอร์ดเดียวกัน แทน Excel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8680" y="5308600"/>
              <a:ext cx="4101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ตัวเลขฐานทั้งหมดต้องยืนยันหน้างานก่อนเริ่มโครงการ</a:t>
              </a:r>
              <a:b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(ดูขั้นถัดไปหน้า 9)</a:t>
              </a:r>
            </a:p>
          </p:txBody>
        </p:sp>
      </p:grpSp>
      <p:grpSp>
        <p:nvGrpSpPr>
          <p:cNvPr id="14" name="chart-note"/>
          <p:cNvGrpSpPr/>
          <p:nvPr/>
        </p:nvGrpSpPr>
        <p:grpSpPr>
          <a:xfrm>
            <a:off x="7804023" y="5791200"/>
            <a:ext cx="3657387" cy="250317"/>
            <a:chOff x="7804023" y="5791200"/>
            <a:chExt cx="3657387" cy="250317"/>
          </a:xfrm>
        </p:grpSpPr>
        <p:sp>
          <p:nvSpPr>
            <p:cNvPr id="13" name="TextBox 13"/>
            <p:cNvSpPr txBox="1"/>
            <p:nvPr/>
          </p:nvSpPr>
          <p:spPr>
            <a:xfrm>
              <a:off x="7804023" y="5791200"/>
              <a:ext cx="365738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ลดลง 13 ชม./เดือน (≈31%) สอดคล้องเป้าลด 30%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169918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4 · Solution Finding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8171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4 ส่วนของระบบทำงานต่อกัน ตั้งแต่เซนเซอร์ถึงใบสั่งซ่อม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2" name="node-sensor"/>
          <p:cNvGrpSpPr/>
          <p:nvPr/>
        </p:nvGrpSpPr>
        <p:grpSpPr>
          <a:xfrm>
            <a:off x="571500" y="1905000"/>
            <a:ext cx="3429000" cy="3067050"/>
            <a:chOff x="571500" y="1905000"/>
            <a:chExt cx="3429000" cy="3067050"/>
          </a:xfrm>
        </p:grpSpPr>
        <p:sp>
          <p:nvSpPr>
            <p:cNvPr id="6" name="Rectangle 6"/>
            <p:cNvSpPr/>
            <p:nvPr/>
          </p:nvSpPr>
          <p:spPr>
            <a:xfrm>
              <a:off x="571500" y="1905000"/>
              <a:ext cx="3429000" cy="3067050"/>
            </a:xfrm>
            <a:prstGeom prst="roundRect">
              <a:avLst>
                <a:gd name="adj" fmla="val 3727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81050" y="2152650"/>
              <a:ext cx="419100" cy="419100"/>
            </a:xfrm>
            <a:prstGeom prst="ellipse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8080" y="2235200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6394" y="2717800"/>
              <a:ext cx="2321100" cy="7242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เซนเซอร์ IoT</a:t>
              </a:r>
              <a:b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บนเครื่องปั๊ม 6 เครื่อง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3594100"/>
              <a:ext cx="19583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วัดการสั่นสะเทือน อุณหภูมิ</a:t>
              </a:r>
              <a:b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และแรงดันไฮดรอลิก</a:t>
              </a:r>
              <a:b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50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แบบเรียลไทม์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4610100"/>
              <a:ext cx="28625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แก้ปัญหาข้อ 1 · ต้นทางข้อมูลของทุกส่วน</a:t>
              </a:r>
            </a:p>
          </p:txBody>
        </p:sp>
      </p:grpSp>
      <p:grpSp>
        <p:nvGrpSpPr>
          <p:cNvPr id="16" name="flow-links"/>
          <p:cNvGrpSpPr/>
          <p:nvPr/>
        </p:nvGrpSpPr>
        <p:grpSpPr>
          <a:xfrm>
            <a:off x="4000500" y="2095500"/>
            <a:ext cx="1257300" cy="3048000"/>
            <a:chOff x="4000500" y="2095500"/>
            <a:chExt cx="1257300" cy="3048000"/>
          </a:xfrm>
        </p:grpSpPr>
        <p:sp>
          <p:nvSpPr>
            <p:cNvPr id="13" name="Line 13"/>
            <p:cNvSpPr/>
            <p:nvPr/>
          </p:nvSpPr>
          <p:spPr>
            <a:xfrm flipV="1">
              <a:off x="4000500" y="2095500"/>
              <a:ext cx="1257300" cy="134302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  <p:sp>
          <p:nvSpPr>
            <p:cNvPr id="14" name="Line 14"/>
            <p:cNvSpPr/>
            <p:nvPr/>
          </p:nvSpPr>
          <p:spPr>
            <a:xfrm>
              <a:off x="4000500" y="3438525"/>
              <a:ext cx="1257300" cy="18097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4000500" y="3438525"/>
              <a:ext cx="1257300" cy="1704975"/>
            </a:xfrm>
            <a:prstGeom prst="line">
              <a:avLst/>
            </a:prstGeom>
            <a:noFill/>
            <a:ln w="19050">
              <a:solidFill>
                <a:srgbClr val="0B2545"/>
              </a:solidFill>
              <a:tailEnd type="triangle" w="lg" len="lg"/>
            </a:ln>
          </p:spPr>
        </p:sp>
      </p:grpSp>
      <p:grpSp>
        <p:nvGrpSpPr>
          <p:cNvPr id="23" name="node-dashboard"/>
          <p:cNvGrpSpPr/>
          <p:nvPr/>
        </p:nvGrpSpPr>
        <p:grpSpPr>
          <a:xfrm>
            <a:off x="5334000" y="1428750"/>
            <a:ext cx="6286500" cy="1333500"/>
            <a:chOff x="5334000" y="1428750"/>
            <a:chExt cx="6286500" cy="1333500"/>
          </a:xfrm>
        </p:grpSpPr>
        <p:sp>
          <p:nvSpPr>
            <p:cNvPr id="17" name="Rectangle 17"/>
            <p:cNvSpPr/>
            <p:nvPr/>
          </p:nvSpPr>
          <p:spPr>
            <a:xfrm>
              <a:off x="5334000" y="1428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524500" y="1657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49073" y="1736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48756" y="1708150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แดชบอร์ด OEE เรียลไทม์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35544" y="1752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4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50280" y="2203450"/>
              <a:ext cx="45284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แทน Excel ที่กรอกมือ ผู้จัดการไม่ต้องรอสรุปทุกสิ้นเดือน</a:t>
              </a:r>
            </a:p>
          </p:txBody>
        </p:sp>
      </p:grpSp>
      <p:grpSp>
        <p:nvGrpSpPr>
          <p:cNvPr id="30" name="node-cmms"/>
          <p:cNvGrpSpPr/>
          <p:nvPr/>
        </p:nvGrpSpPr>
        <p:grpSpPr>
          <a:xfrm>
            <a:off x="5334000" y="2952750"/>
            <a:ext cx="6286500" cy="1333500"/>
            <a:chOff x="5334000" y="2952750"/>
            <a:chExt cx="62865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5334000" y="2952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5524500" y="3181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649073" y="3260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8756" y="3232150"/>
              <a:ext cx="38357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เชื่อม CMMS เปิดใบสั่งซ่อมอัตโนมัติ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35544" y="3276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050280" y="3727450"/>
              <a:ext cx="45788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เมื่อค่าผิดปกติ ช่างได้รับงานทันที ไม่ต้องรอคนเดินมาแจ้ง</a:t>
              </a:r>
            </a:p>
          </p:txBody>
        </p:sp>
      </p:grpSp>
      <p:grpSp>
        <p:nvGrpSpPr>
          <p:cNvPr id="37" name="node-spare"/>
          <p:cNvGrpSpPr/>
          <p:nvPr/>
        </p:nvGrpSpPr>
        <p:grpSpPr>
          <a:xfrm>
            <a:off x="5334000" y="4476750"/>
            <a:ext cx="6286500" cy="1333500"/>
            <a:chOff x="5334000" y="4476750"/>
            <a:chExt cx="6286500" cy="1333500"/>
          </a:xfrm>
        </p:grpSpPr>
        <p:sp>
          <p:nvSpPr>
            <p:cNvPr id="31" name="Rectangle 31"/>
            <p:cNvSpPr/>
            <p:nvPr/>
          </p:nvSpPr>
          <p:spPr>
            <a:xfrm>
              <a:off x="5334000" y="4476750"/>
              <a:ext cx="6286500" cy="1333500"/>
            </a:xfrm>
            <a:prstGeom prst="roundRect">
              <a:avLst>
                <a:gd name="adj" fmla="val 8571"/>
              </a:avLst>
            </a:prstGeom>
            <a:solidFill>
              <a:srgbClr val="F3F5F8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524500" y="4705350"/>
              <a:ext cx="381000" cy="381000"/>
            </a:xfrm>
            <a:prstGeom prst="ellips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649073" y="47847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th-TH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8756" y="4756150"/>
              <a:ext cx="21173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เตือนอะไหล่ใกล้หมด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35544" y="4800600"/>
              <a:ext cx="96283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แก้ปัญหาข้อ 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50280" y="5251450"/>
              <a:ext cx="4124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คำนวณจากอัตราการใช้อะไหล่จริงของแต่ละเครื่อง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66166" y="6426200"/>
              <a:ext cx="46259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 · หมายเลข “ปัญหาข้อ” อ้างอิงหน้า 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301170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4 · Solution Finding — แผนดำเนินงาน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822603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3 ระยะ 6 เดือน: เก็บข้อมูลฐาน → เปิดแจ้งเตือน → วัดผล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phase-1"/>
          <p:cNvGrpSpPr/>
          <p:nvPr/>
        </p:nvGrpSpPr>
        <p:grpSpPr>
          <a:xfrm>
            <a:off x="571500" y="1428750"/>
            <a:ext cx="3619500" cy="2134870"/>
            <a:chOff x="571500" y="1428750"/>
            <a:chExt cx="3619500" cy="2134870"/>
          </a:xfrm>
        </p:grpSpPr>
        <p:sp>
          <p:nvSpPr>
            <p:cNvPr id="6" name="Freeform 6"/>
            <p:cNvSpPr/>
            <p:nvPr/>
          </p:nvSpPr>
          <p:spPr>
            <a:xfrm>
              <a:off x="571500" y="1428750"/>
              <a:ext cx="3619500" cy="876300"/>
            </a:xfrm>
            <a:prstGeom prst="homePlate">
              <a:avLst/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829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1–2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5518" y="2578100"/>
              <a:ext cx="21974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ติดตั้งและเก็บข้อมูลฐาน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16280" y="2946400"/>
              <a:ext cx="280606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ติดเซนเซอร์บนเครื่องปั๊ม 6 เครื่อง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เก็บค่าฐานของ 4 ตัวชี้วัด</a:t>
              </a:r>
            </a:p>
          </p:txBody>
        </p:sp>
      </p:grpSp>
      <p:grpSp>
        <p:nvGrpSpPr>
          <p:cNvPr id="15" name="phase-2"/>
          <p:cNvGrpSpPr/>
          <p:nvPr/>
        </p:nvGrpSpPr>
        <p:grpSpPr>
          <a:xfrm>
            <a:off x="4286250" y="1428750"/>
            <a:ext cx="3619500" cy="2134870"/>
            <a:chOff x="4286250" y="1428750"/>
            <a:chExt cx="3619500" cy="2134870"/>
          </a:xfrm>
        </p:grpSpPr>
        <p:sp>
          <p:nvSpPr>
            <p:cNvPr id="11" name="Freeform 11"/>
            <p:cNvSpPr/>
            <p:nvPr/>
          </p:nvSpPr>
          <p:spPr>
            <a:xfrm>
              <a:off x="4286250" y="1428750"/>
              <a:ext cx="3619500" cy="876300"/>
            </a:xfrm>
            <a:prstGeom prst="chevron">
              <a:avLst/>
            </a:prstGeom>
            <a:solidFill>
              <a:srgbClr val="13315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0499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3–4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30268" y="2578100"/>
              <a:ext cx="2764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เปิดใช้แจ้งเตือนและ CMMS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31030" y="2946400"/>
              <a:ext cx="27203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แจ้งเตือนเมื่อค่าผิดปกติ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เปิดใบสั่งซ่อมอัตโนมัติผ่าน CMMS</a:t>
              </a:r>
            </a:p>
          </p:txBody>
        </p:sp>
      </p:grpSp>
      <p:grpSp>
        <p:nvGrpSpPr>
          <p:cNvPr id="20" name="phase-3"/>
          <p:cNvGrpSpPr/>
          <p:nvPr/>
        </p:nvGrpSpPr>
        <p:grpSpPr>
          <a:xfrm>
            <a:off x="8001000" y="1428750"/>
            <a:ext cx="3619500" cy="2134870"/>
            <a:chOff x="8001000" y="1428750"/>
            <a:chExt cx="3619500" cy="2134870"/>
          </a:xfrm>
        </p:grpSpPr>
        <p:sp>
          <p:nvSpPr>
            <p:cNvPr id="16" name="Freeform 16"/>
            <p:cNvSpPr/>
            <p:nvPr/>
          </p:nvSpPr>
          <p:spPr>
            <a:xfrm>
              <a:off x="8001000" y="1428750"/>
              <a:ext cx="3619500" cy="876300"/>
            </a:xfrm>
            <a:prstGeom prst="chevron">
              <a:avLst/>
            </a:prstGeom>
            <a:solidFill>
              <a:srgbClr val="E07A1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9744" y="1711325"/>
              <a:ext cx="11636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เดือน 5–6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5018" y="2578100"/>
              <a:ext cx="18126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6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ปรับเกณฑ์และวัดผล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45780" y="2946400"/>
              <a:ext cx="2691765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ปรับเกณฑ์แจ้งเตือนจากข้อมูลจริง</a:t>
              </a:r>
            </a:p>
            <a:p>
              <a:pPr algn="l" marL="161925" indent="-161925">
                <a:lnSpc>
                  <a:spcPts val="2550"/>
                </a:lnSpc>
                <a:buClr>
                  <a:srgbClr val="2B2F36"/>
                </a:buClr>
                <a:buSzTx/>
                <a:buFontTx/>
                <a:buChar char="•"/>
              </a:pPr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วัดผลเทียบเป้า 4 ตัวชี้วัด</a:t>
              </a:r>
            </a:p>
          </p:txBody>
        </p:sp>
      </p:grpSp>
      <p:grpSp>
        <p:nvGrpSpPr>
          <p:cNvPr id="25" name="decision-gate"/>
          <p:cNvGrpSpPr/>
          <p:nvPr/>
        </p:nvGrpSpPr>
        <p:grpSpPr>
          <a:xfrm>
            <a:off x="571500" y="4324350"/>
            <a:ext cx="11049000" cy="1600200"/>
            <a:chOff x="571500" y="4324350"/>
            <a:chExt cx="110490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571500" y="4324350"/>
              <a:ext cx="11049000" cy="16002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9050">
              <a:solidFill>
                <a:srgbClr val="0B254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9823" y="4572000"/>
              <a:ext cx="195794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จุดตัดสินใจเมื่อจบเดือนที่ 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6394" y="4902200"/>
              <a:ext cx="550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9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ถ้าผลถึงเป้า 4 ตัวชี้วัด → เสนอขยายไปทั้งโรงงาน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8680" y="5384800"/>
              <a:ext cx="8613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เกณฑ์ตัดสินว่า “ถึงเป้า” และงบประมาณระยะขยาย = [TBD] ต้องตกลงร่วมกับลูกค้าก่อนเริ่มเดือนที่ 1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8546" y="342900"/>
            <a:ext cx="11061954" cy="790575"/>
            <a:chOff x="558546" y="342900"/>
            <a:chExt cx="11061954" cy="790575"/>
          </a:xfrm>
        </p:grpSpPr>
        <p:sp>
          <p:nvSpPr>
            <p:cNvPr id="2" name="TextBox 2"/>
            <p:cNvSpPr txBox="1"/>
            <p:nvPr/>
          </p:nvSpPr>
          <p:spPr>
            <a:xfrm>
              <a:off x="565023" y="342900"/>
              <a:ext cx="6100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ขั้นถัดไป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8546" y="628650"/>
              <a:ext cx="96803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255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ขอนัดสำรวจหน้างานสาย A เพื่อยืนยันตัวเลขฐานและงบประมาณ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C9CED6"/>
              </a:solidFill>
            </a:ln>
          </p:spPr>
        </p:sp>
      </p:grpSp>
      <p:grpSp>
        <p:nvGrpSpPr>
          <p:cNvPr id="10" name="ask-1"/>
          <p:cNvGrpSpPr/>
          <p:nvPr/>
        </p:nvGrpSpPr>
        <p:grpSpPr>
          <a:xfrm>
            <a:off x="552450" y="1492250"/>
            <a:ext cx="5234849" cy="1158367"/>
            <a:chOff x="552450" y="1492250"/>
            <a:chExt cx="5234849" cy="1158367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49225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71956" y="1651000"/>
              <a:ext cx="4615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สำรวจหน้างานสาย A และยืนยันตัวเลขฐาน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73480" y="2051050"/>
              <a:ext cx="4134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ตรวจตัวชี้วัดทั้ง 4 ตัวเทียบกับบันทึกจริงของโรงงาน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4623" y="240030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15" name="ask-2"/>
          <p:cNvGrpSpPr/>
          <p:nvPr/>
        </p:nvGrpSpPr>
        <p:grpSpPr>
          <a:xfrm>
            <a:off x="552450" y="2959100"/>
            <a:ext cx="3863797" cy="1158367"/>
            <a:chOff x="552450" y="2959100"/>
            <a:chExt cx="3863797" cy="1158367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295910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1956" y="3117850"/>
              <a:ext cx="32442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เปิดข้อมูลระบบ CMMS ที่ใช้อยู่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3480" y="3517900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เพื่อออกแบบการเปิดใบสั่งซ่อมอัตโนมัติ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4623" y="386715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20" name="ask-3"/>
          <p:cNvGrpSpPr/>
          <p:nvPr/>
        </p:nvGrpSpPr>
        <p:grpSpPr>
          <a:xfrm>
            <a:off x="552450" y="4425950"/>
            <a:ext cx="4835919" cy="1158367"/>
            <a:chOff x="552450" y="4425950"/>
            <a:chExt cx="4835919" cy="1158367"/>
          </a:xfrm>
        </p:grpSpPr>
        <p:sp>
          <p:nvSpPr>
            <p:cNvPr id="16" name="TextBox 16"/>
            <p:cNvSpPr txBox="1"/>
            <p:nvPr/>
          </p:nvSpPr>
          <p:spPr>
            <a:xfrm>
              <a:off x="552450" y="4425950"/>
              <a:ext cx="45791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5400" b="1" dirty="0">
                  <a:solidFill>
                    <a:srgbClr val="E07A1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71956" y="4584700"/>
              <a:ext cx="4216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800" b="1" dirty="0">
                  <a:solidFill>
                    <a:srgbClr val="0B2545"/>
                  </a:solidFill>
                  <a:latin typeface="+mn-lt"/>
                  <a:ea typeface="+mn-ea"/>
                  <a:cs typeface="+mn-cs"/>
                </a:rPr>
                <a:t>กำหนดผู้รับผิดชอบฝั่งลูกค้าและเกณฑ์วัดผล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3480" y="4984750"/>
              <a:ext cx="4084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500" dirty="0">
                  <a:solidFill>
                    <a:srgbClr val="2B2F36"/>
                  </a:solidFill>
                  <a:latin typeface="+mn-lt"/>
                  <a:ea typeface="+mn-ea"/>
                  <a:cs typeface="+mn-cs"/>
                </a:rPr>
                <a:t>ตกลงว่าแบบไหนนับว่า “ถึงเป้า” ก่อนเริ่มเดือนที่ 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4623" y="5334000"/>
              <a:ext cx="19792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ผู้รับผิดชอบ / วันที่: [TBD]</a:t>
              </a:r>
            </a:p>
          </p:txBody>
        </p:sp>
      </p:grpSp>
      <p:grpSp>
        <p:nvGrpSpPr>
          <p:cNvPr id="25" name="tbd-panel"/>
          <p:cNvGrpSpPr/>
          <p:nvPr/>
        </p:nvGrpSpPr>
        <p:grpSpPr>
          <a:xfrm>
            <a:off x="7620000" y="1428750"/>
            <a:ext cx="4000500" cy="4495800"/>
            <a:chOff x="7620000" y="1428750"/>
            <a:chExt cx="4000500" cy="4495800"/>
          </a:xfrm>
        </p:grpSpPr>
        <p:sp>
          <p:nvSpPr>
            <p:cNvPr id="21" name="Rectangle 21"/>
            <p:cNvSpPr/>
            <p:nvPr/>
          </p:nvSpPr>
          <p:spPr>
            <a:xfrm>
              <a:off x="7620000" y="1428750"/>
              <a:ext cx="4000500" cy="4495800"/>
            </a:xfrm>
            <a:prstGeom prst="roundRect">
              <a:avLst>
                <a:gd name="adj" fmla="val 2857"/>
              </a:avLst>
            </a:prstGeom>
            <a:solidFill>
              <a:srgbClr val="0B254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18323" y="1714500"/>
              <a:ext cx="254596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280" b="1" dirty="0">
                  <a:solidFill>
                    <a:srgbClr val="F6C99A"/>
                  </a:solidFill>
                  <a:latin typeface="+mn-lt"/>
                  <a:ea typeface="+mn-ea"/>
                  <a:cs typeface="+mn-cs"/>
                </a:rPr>
                <a:t>ยังไม่มีในเอกสารโจทย์ = [TBD]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15656" y="2070100"/>
              <a:ext cx="1866519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ข้อมูลที่ต้องได้ก่อน</a:t>
              </a:r>
              <a:b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th-TH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ทำข้อเสนอฉบับจริง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6418" y="2959100"/>
              <a:ext cx="2740914" cy="19991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งบประมาณโครงการ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ROI และระยะคืนทุน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รายชื่อทีมงาน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มูลค่าความเสียหายต่อชั่วโมง</a:t>
              </a:r>
            </a:p>
            <a:p>
              <a:pPr algn="l" marL="178118" indent="-178118">
                <a:lnSpc>
                  <a:spcPts val="3300"/>
                </a:lnSpc>
                <a:buClr>
                  <a:srgbClr val="D5DCE6"/>
                </a:buClr>
                <a:buSzTx/>
                <a:buFontTx/>
                <a:buChar char="•"/>
              </a:pPr>
              <a:r>
                <a:rPr lang="th-TH" sz="1650" dirty="0">
                  <a:solidFill>
                    <a:srgbClr val="D5DCE6"/>
                  </a:solidFill>
                  <a:latin typeface="+mn-lt"/>
                  <a:ea typeface="+mn-ea"/>
                  <a:cs typeface="+mn-cs"/>
                </a:rPr>
                <a:t>เกณฑ์ “ถึงเป้า” ของโครงการ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66166" y="6426200"/>
            <a:ext cx="11059668" cy="205359"/>
            <a:chOff x="566166" y="6426200"/>
            <a:chExt cx="110596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66166" y="6426200"/>
              <a:ext cx="24161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ข้อมูลสมมติเพื่อการทดสอบ · CSI Groups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37423" y="642620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th-TH" sz="1050" dirty="0">
                  <a:solidFill>
                    <a:srgbClr val="6B7280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xc_thai">
  <a:themeElements>
    <a:clrScheme name="dxc_thai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xc_thai">
      <a:majorFont>
        <a:latin typeface="Sarabun"/>
        <a:ea typeface="Microsoft YaHei"/>
        <a:cs typeface="Sarabu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Sarabun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rabun"/>
        <a:ea typeface="Microsoft YaHei"/>
        <a:cs typeface="Sarabu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Sarabun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xc_tha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xc_thai">
  <a:themeElements>
    <a:clrScheme name="dxc_thai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xc_thai">
      <a:majorFont>
        <a:latin typeface="Sarabun"/>
        <a:ea typeface="Microsoft YaHei"/>
        <a:cs typeface="Sarabu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Sarabun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rabun"/>
        <a:ea typeface="Microsoft YaHei"/>
        <a:cs typeface="Sarabun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Sarabun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xc_thai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th-TH</dc:language>
  <cp:lastModifiedBy/>
  <cp:revision>1</cp:revision>
  <dcterms:created xsi:type="dcterms:W3CDTF">2026-10-22T04:49:50Z</dcterms:created>
  <dcterms:modified xsi:type="dcterms:W3CDTF">2026-10-22T04:49:50Z</dcterms:modified>
  <cp:category/>
  <cp:contentStatus/>
</cp:coreProperties>
</file>